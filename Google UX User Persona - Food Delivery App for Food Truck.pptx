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embeddedFontLst>
    <p:embeddedFont>
      <p:font typeface="Google Sans"/>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GoogleSans-boldItalic.fntdata"/><Relationship Id="rId10" Type="http://schemas.openxmlformats.org/officeDocument/2006/relationships/font" Target="fonts/GoogleSans-italic.fntdata"/><Relationship Id="rId9" Type="http://schemas.openxmlformats.org/officeDocument/2006/relationships/font" Target="fonts/Google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Google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f27d06dd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1f27d06dd5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451525" y="461325"/>
            <a:ext cx="2758200" cy="27582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Google Sans"/>
              <a:ea typeface="Google Sans"/>
              <a:cs typeface="Google Sans"/>
              <a:sym typeface="Google Sans"/>
            </a:endParaRPr>
          </a:p>
        </p:txBody>
      </p:sp>
      <p:sp>
        <p:nvSpPr>
          <p:cNvPr id="55" name="Google Shape;55;p13"/>
          <p:cNvSpPr txBox="1"/>
          <p:nvPr/>
        </p:nvSpPr>
        <p:spPr>
          <a:xfrm>
            <a:off x="451450" y="3219525"/>
            <a:ext cx="2758200" cy="471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lang="en" sz="1900">
                <a:solidFill>
                  <a:srgbClr val="1967D2"/>
                </a:solidFill>
                <a:latin typeface="Google Sans"/>
                <a:ea typeface="Google Sans"/>
                <a:cs typeface="Google Sans"/>
                <a:sym typeface="Google Sans"/>
              </a:rPr>
              <a:t>Kathryn Harris</a:t>
            </a:r>
            <a:endParaRPr b="1" i="0" sz="1800" u="none" cap="none" strike="noStrike">
              <a:solidFill>
                <a:srgbClr val="1967D2"/>
              </a:solidFill>
              <a:latin typeface="Google Sans"/>
              <a:ea typeface="Google Sans"/>
              <a:cs typeface="Google Sans"/>
              <a:sym typeface="Google Sans"/>
            </a:endParaRPr>
          </a:p>
        </p:txBody>
      </p:sp>
      <p:sp>
        <p:nvSpPr>
          <p:cNvPr id="56" name="Google Shape;56;p13"/>
          <p:cNvSpPr txBox="1"/>
          <p:nvPr/>
        </p:nvSpPr>
        <p:spPr>
          <a:xfrm>
            <a:off x="323950" y="3614500"/>
            <a:ext cx="1501800" cy="12171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Google Sans"/>
                <a:ea typeface="Google Sans"/>
                <a:cs typeface="Google Sans"/>
                <a:sym typeface="Google Sans"/>
              </a:rPr>
              <a:t>Age: </a:t>
            </a:r>
            <a:endParaRPr b="1" i="0" sz="1400" u="none" cap="none" strike="noStrike">
              <a:solidFill>
                <a:srgbClr val="000000"/>
              </a:solidFill>
              <a:latin typeface="Google Sans"/>
              <a:ea typeface="Google Sans"/>
              <a:cs typeface="Google Sans"/>
              <a:sym typeface="Google Sans"/>
            </a:endParaRPr>
          </a:p>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Google Sans"/>
                <a:ea typeface="Google Sans"/>
                <a:cs typeface="Google Sans"/>
                <a:sym typeface="Google Sans"/>
              </a:rPr>
              <a:t>Education: </a:t>
            </a:r>
            <a:endParaRPr b="1" i="0" sz="1400" u="none" cap="none" strike="noStrike">
              <a:solidFill>
                <a:srgbClr val="000000"/>
              </a:solidFill>
              <a:latin typeface="Google Sans"/>
              <a:ea typeface="Google Sans"/>
              <a:cs typeface="Google Sans"/>
              <a:sym typeface="Google Sans"/>
            </a:endParaRPr>
          </a:p>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Google Sans"/>
                <a:ea typeface="Google Sans"/>
                <a:cs typeface="Google Sans"/>
                <a:sym typeface="Google Sans"/>
              </a:rPr>
              <a:t>Hometown: </a:t>
            </a:r>
            <a:endParaRPr b="1" i="0" sz="1400" u="none" cap="none" strike="noStrike">
              <a:solidFill>
                <a:srgbClr val="000000"/>
              </a:solidFill>
              <a:latin typeface="Google Sans"/>
              <a:ea typeface="Google Sans"/>
              <a:cs typeface="Google Sans"/>
              <a:sym typeface="Google Sans"/>
            </a:endParaRPr>
          </a:p>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Google Sans"/>
                <a:ea typeface="Google Sans"/>
                <a:cs typeface="Google Sans"/>
                <a:sym typeface="Google Sans"/>
              </a:rPr>
              <a:t>Family: </a:t>
            </a:r>
            <a:endParaRPr b="1" i="0" sz="1400" u="none" cap="none" strike="noStrike">
              <a:solidFill>
                <a:srgbClr val="000000"/>
              </a:solidFill>
              <a:latin typeface="Google Sans"/>
              <a:ea typeface="Google Sans"/>
              <a:cs typeface="Google Sans"/>
              <a:sym typeface="Google Sans"/>
            </a:endParaRPr>
          </a:p>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Google Sans"/>
                <a:ea typeface="Google Sans"/>
                <a:cs typeface="Google Sans"/>
                <a:sym typeface="Google Sans"/>
              </a:rPr>
              <a:t>Occupation:</a:t>
            </a:r>
            <a:endParaRPr b="1" i="0" sz="1400" u="none" cap="none" strike="noStrike">
              <a:solidFill>
                <a:srgbClr val="000000"/>
              </a:solidFill>
              <a:latin typeface="Google Sans"/>
              <a:ea typeface="Google Sans"/>
              <a:cs typeface="Google Sans"/>
              <a:sym typeface="Google Sans"/>
            </a:endParaRPr>
          </a:p>
          <a:p>
            <a:pPr indent="0" lvl="0" marL="0" marR="0" rtl="0" algn="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Google Sans"/>
              <a:ea typeface="Google Sans"/>
              <a:cs typeface="Google Sans"/>
              <a:sym typeface="Google Sans"/>
            </a:endParaRPr>
          </a:p>
        </p:txBody>
      </p:sp>
      <p:sp>
        <p:nvSpPr>
          <p:cNvPr id="57" name="Google Shape;57;p13"/>
          <p:cNvSpPr txBox="1"/>
          <p:nvPr/>
        </p:nvSpPr>
        <p:spPr>
          <a:xfrm>
            <a:off x="1707850" y="3614500"/>
            <a:ext cx="1817400" cy="121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latin typeface="Google Sans"/>
                <a:ea typeface="Google Sans"/>
                <a:cs typeface="Google Sans"/>
                <a:sym typeface="Google Sans"/>
              </a:rPr>
              <a:t>18</a:t>
            </a:r>
            <a:endParaRPr>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400"/>
              <a:buFont typeface="Arial"/>
              <a:buNone/>
            </a:pPr>
            <a:r>
              <a:rPr lang="en">
                <a:latin typeface="Google Sans"/>
                <a:ea typeface="Google Sans"/>
                <a:cs typeface="Google Sans"/>
                <a:sym typeface="Google Sans"/>
              </a:rPr>
              <a:t>Student, 1st year</a:t>
            </a:r>
            <a:endParaRPr>
              <a:latin typeface="Google Sans"/>
              <a:ea typeface="Google Sans"/>
              <a:cs typeface="Google Sans"/>
              <a:sym typeface="Google Sans"/>
            </a:endParaRPr>
          </a:p>
          <a:p>
            <a:pPr indent="0" lvl="0" marL="0" marR="0" rtl="0" algn="l">
              <a:lnSpc>
                <a:spcPct val="100000"/>
              </a:lnSpc>
              <a:spcBef>
                <a:spcPts val="0"/>
              </a:spcBef>
              <a:spcAft>
                <a:spcPts val="0"/>
              </a:spcAft>
              <a:buClr>
                <a:schemeClr val="dk1"/>
              </a:buClr>
              <a:buSzPts val="1100"/>
              <a:buFont typeface="Arial"/>
              <a:buNone/>
            </a:pPr>
            <a:r>
              <a:rPr lang="en">
                <a:solidFill>
                  <a:schemeClr val="dk1"/>
                </a:solidFill>
                <a:latin typeface="Google Sans"/>
                <a:ea typeface="Google Sans"/>
                <a:cs typeface="Google Sans"/>
                <a:sym typeface="Google Sans"/>
              </a:rPr>
              <a:t>New York, NY</a:t>
            </a:r>
            <a:endParaRPr i="0" sz="1400" u="none" cap="none" strike="noStrike">
              <a:solidFill>
                <a:schemeClr val="dk1"/>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400"/>
              <a:buFont typeface="Arial"/>
              <a:buNone/>
            </a:pPr>
            <a:r>
              <a:rPr lang="en">
                <a:latin typeface="Google Sans"/>
                <a:ea typeface="Google Sans"/>
                <a:cs typeface="Google Sans"/>
                <a:sym typeface="Google Sans"/>
              </a:rPr>
              <a:t>Lives in apartment</a:t>
            </a:r>
            <a:endParaRPr i="0" sz="14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400"/>
              <a:buFont typeface="Arial"/>
              <a:buNone/>
            </a:pPr>
            <a:r>
              <a:rPr lang="en">
                <a:latin typeface="Google Sans"/>
                <a:ea typeface="Google Sans"/>
                <a:cs typeface="Google Sans"/>
                <a:sym typeface="Google Sans"/>
              </a:rPr>
              <a:t>Student Aide</a:t>
            </a:r>
            <a:endParaRPr i="0" sz="1400" u="none" cap="none" strike="noStrike">
              <a:solidFill>
                <a:srgbClr val="000000"/>
              </a:solidFill>
              <a:latin typeface="Google Sans"/>
              <a:ea typeface="Google Sans"/>
              <a:cs typeface="Google Sans"/>
              <a:sym typeface="Google Sans"/>
            </a:endParaRPr>
          </a:p>
        </p:txBody>
      </p:sp>
      <p:sp>
        <p:nvSpPr>
          <p:cNvPr id="58" name="Google Shape;58;p13"/>
          <p:cNvSpPr txBox="1"/>
          <p:nvPr/>
        </p:nvSpPr>
        <p:spPr>
          <a:xfrm>
            <a:off x="3651375" y="461325"/>
            <a:ext cx="5035800" cy="908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i="1" lang="en" sz="1800" u="none" cap="none" strike="noStrike">
                <a:solidFill>
                  <a:srgbClr val="000000"/>
                </a:solidFill>
                <a:latin typeface="Google Sans"/>
                <a:ea typeface="Google Sans"/>
                <a:cs typeface="Google Sans"/>
                <a:sym typeface="Google Sans"/>
              </a:rPr>
              <a:t>“</a:t>
            </a:r>
            <a:r>
              <a:rPr i="1" lang="en" sz="1800">
                <a:latin typeface="Google Sans"/>
                <a:ea typeface="Google Sans"/>
                <a:cs typeface="Google Sans"/>
                <a:sym typeface="Google Sans"/>
              </a:rPr>
              <a:t>I’m a full-timer at New York University who is in search for better food services.</a:t>
            </a:r>
            <a:r>
              <a:rPr i="1" lang="en" sz="1800" u="none" cap="none" strike="noStrike">
                <a:solidFill>
                  <a:srgbClr val="000000"/>
                </a:solidFill>
                <a:latin typeface="Google Sans"/>
                <a:ea typeface="Google Sans"/>
                <a:cs typeface="Google Sans"/>
                <a:sym typeface="Google Sans"/>
              </a:rPr>
              <a:t>” </a:t>
            </a:r>
            <a:endParaRPr i="1" sz="1800" u="none" cap="none" strike="noStrike">
              <a:solidFill>
                <a:srgbClr val="000000"/>
              </a:solidFill>
              <a:latin typeface="Google Sans"/>
              <a:ea typeface="Google Sans"/>
              <a:cs typeface="Google Sans"/>
              <a:sym typeface="Google Sans"/>
            </a:endParaRPr>
          </a:p>
        </p:txBody>
      </p:sp>
      <p:sp>
        <p:nvSpPr>
          <p:cNvPr id="59" name="Google Shape;59;p13"/>
          <p:cNvSpPr txBox="1"/>
          <p:nvPr/>
        </p:nvSpPr>
        <p:spPr>
          <a:xfrm>
            <a:off x="3651375" y="1285725"/>
            <a:ext cx="2522700" cy="193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rgbClr val="196702"/>
                </a:solidFill>
                <a:latin typeface="Google Sans"/>
                <a:ea typeface="Google Sans"/>
                <a:cs typeface="Google Sans"/>
                <a:sym typeface="Google Sans"/>
              </a:rPr>
              <a:t>Goals</a:t>
            </a:r>
            <a:r>
              <a:rPr i="0" lang="en" sz="1800" u="none" cap="none" strike="noStrike">
                <a:solidFill>
                  <a:srgbClr val="000000"/>
                </a:solidFill>
                <a:latin typeface="Google Sans"/>
                <a:ea typeface="Google Sans"/>
                <a:cs typeface="Google Sans"/>
                <a:sym typeface="Google Sans"/>
              </a:rPr>
              <a:t> </a:t>
            </a:r>
            <a:endParaRPr sz="1000">
              <a:latin typeface="Google Sans"/>
              <a:ea typeface="Google Sans"/>
              <a:cs typeface="Google Sans"/>
              <a:sym typeface="Google Sans"/>
            </a:endParaRPr>
          </a:p>
          <a:p>
            <a:pPr indent="-292100" lvl="0" marL="457200" marR="0" rtl="0" algn="l">
              <a:lnSpc>
                <a:spcPct val="100000"/>
              </a:lnSpc>
              <a:spcBef>
                <a:spcPts val="0"/>
              </a:spcBef>
              <a:spcAft>
                <a:spcPts val="0"/>
              </a:spcAft>
              <a:buSzPts val="1000"/>
              <a:buFont typeface="Google Sans"/>
              <a:buChar char="●"/>
            </a:pPr>
            <a:r>
              <a:rPr lang="en" sz="1000">
                <a:latin typeface="Google Sans"/>
                <a:ea typeface="Google Sans"/>
                <a:cs typeface="Google Sans"/>
                <a:sym typeface="Google Sans"/>
              </a:rPr>
              <a:t>To receive orders successfully based on her requests</a:t>
            </a:r>
            <a:endParaRPr sz="1000">
              <a:latin typeface="Google Sans"/>
              <a:ea typeface="Google Sans"/>
              <a:cs typeface="Google Sans"/>
              <a:sym typeface="Google Sans"/>
            </a:endParaRPr>
          </a:p>
          <a:p>
            <a:pPr indent="-292100" lvl="0" marL="457200" marR="0" rtl="0" algn="l">
              <a:lnSpc>
                <a:spcPct val="100000"/>
              </a:lnSpc>
              <a:spcBef>
                <a:spcPts val="0"/>
              </a:spcBef>
              <a:spcAft>
                <a:spcPts val="0"/>
              </a:spcAft>
              <a:buSzPts val="1000"/>
              <a:buFont typeface="Google Sans"/>
              <a:buChar char="●"/>
            </a:pPr>
            <a:r>
              <a:rPr lang="en" sz="1000">
                <a:latin typeface="Google Sans"/>
                <a:ea typeface="Google Sans"/>
                <a:cs typeface="Google Sans"/>
                <a:sym typeface="Google Sans"/>
              </a:rPr>
              <a:t>To gain better mobile experience in making and following up with orders</a:t>
            </a:r>
            <a:endParaRPr sz="1000">
              <a:latin typeface="Google Sans"/>
              <a:ea typeface="Google Sans"/>
              <a:cs typeface="Google Sans"/>
              <a:sym typeface="Google Sans"/>
            </a:endParaRPr>
          </a:p>
          <a:p>
            <a:pPr indent="-292100" lvl="0" marL="457200" marR="0" rtl="0" algn="l">
              <a:lnSpc>
                <a:spcPct val="100000"/>
              </a:lnSpc>
              <a:spcBef>
                <a:spcPts val="0"/>
              </a:spcBef>
              <a:spcAft>
                <a:spcPts val="0"/>
              </a:spcAft>
              <a:buSzPts val="1000"/>
              <a:buFont typeface="Google Sans"/>
              <a:buChar char="●"/>
            </a:pPr>
            <a:r>
              <a:rPr lang="en" sz="1000">
                <a:latin typeface="Google Sans"/>
                <a:ea typeface="Google Sans"/>
                <a:cs typeface="Google Sans"/>
                <a:sym typeface="Google Sans"/>
              </a:rPr>
              <a:t>Improve efficiency and include additional features for filtering pickup locations</a:t>
            </a:r>
            <a:endParaRPr sz="1000">
              <a:latin typeface="Google Sans"/>
              <a:ea typeface="Google Sans"/>
              <a:cs typeface="Google Sans"/>
              <a:sym typeface="Google Sans"/>
            </a:endParaRPr>
          </a:p>
        </p:txBody>
      </p:sp>
      <p:sp>
        <p:nvSpPr>
          <p:cNvPr id="60" name="Google Shape;60;p13"/>
          <p:cNvSpPr txBox="1"/>
          <p:nvPr/>
        </p:nvSpPr>
        <p:spPr>
          <a:xfrm>
            <a:off x="6326475" y="1285725"/>
            <a:ext cx="2522700" cy="193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900" u="none" cap="none" strike="noStrike">
                <a:solidFill>
                  <a:srgbClr val="C5221F"/>
                </a:solidFill>
                <a:latin typeface="Google Sans"/>
                <a:ea typeface="Google Sans"/>
                <a:cs typeface="Google Sans"/>
                <a:sym typeface="Google Sans"/>
              </a:rPr>
              <a:t>Frustrations</a:t>
            </a:r>
            <a:r>
              <a:rPr b="1" i="0" lang="en" sz="1800" u="none" cap="none" strike="noStrike">
                <a:solidFill>
                  <a:schemeClr val="dk1"/>
                </a:solidFill>
                <a:latin typeface="Google Sans"/>
                <a:ea typeface="Google Sans"/>
                <a:cs typeface="Google Sans"/>
                <a:sym typeface="Google Sans"/>
              </a:rPr>
              <a:t> </a:t>
            </a:r>
            <a:endParaRPr b="1" i="0" sz="1800" u="none" cap="none" strike="noStrike">
              <a:solidFill>
                <a:schemeClr val="dk1"/>
              </a:solidFill>
              <a:latin typeface="Google Sans"/>
              <a:ea typeface="Google Sans"/>
              <a:cs typeface="Google Sans"/>
              <a:sym typeface="Google Sans"/>
            </a:endParaRPr>
          </a:p>
          <a:p>
            <a:pPr indent="-292100" lvl="0" marL="457200" marR="0" rtl="0" algn="l">
              <a:lnSpc>
                <a:spcPct val="100000"/>
              </a:lnSpc>
              <a:spcBef>
                <a:spcPts val="0"/>
              </a:spcBef>
              <a:spcAft>
                <a:spcPts val="0"/>
              </a:spcAft>
              <a:buClr>
                <a:schemeClr val="dk1"/>
              </a:buClr>
              <a:buSzPts val="1000"/>
              <a:buFont typeface="Google Sans"/>
              <a:buChar char="●"/>
            </a:pPr>
            <a:r>
              <a:rPr lang="en" sz="1000">
                <a:solidFill>
                  <a:schemeClr val="dk1"/>
                </a:solidFill>
                <a:latin typeface="Google Sans"/>
                <a:ea typeface="Google Sans"/>
                <a:cs typeface="Google Sans"/>
                <a:sym typeface="Google Sans"/>
              </a:rPr>
              <a:t>“It is </a:t>
            </a:r>
            <a:r>
              <a:rPr lang="en" sz="1000">
                <a:solidFill>
                  <a:schemeClr val="dk1"/>
                </a:solidFill>
                <a:latin typeface="Google Sans"/>
                <a:ea typeface="Google Sans"/>
                <a:cs typeface="Google Sans"/>
                <a:sym typeface="Google Sans"/>
              </a:rPr>
              <a:t>difficult to make sure the timing is right. If the food arrives too early, I have to wait. If the food arrives too late, my hot items get cold.</a:t>
            </a:r>
            <a:r>
              <a:rPr lang="en" sz="1000">
                <a:solidFill>
                  <a:schemeClr val="dk1"/>
                </a:solidFill>
                <a:latin typeface="Google Sans"/>
                <a:ea typeface="Google Sans"/>
                <a:cs typeface="Google Sans"/>
                <a:sym typeface="Google Sans"/>
              </a:rPr>
              <a:t>”</a:t>
            </a:r>
            <a:endParaRPr sz="1000">
              <a:solidFill>
                <a:schemeClr val="dk1"/>
              </a:solidFill>
              <a:latin typeface="Google Sans"/>
              <a:ea typeface="Google Sans"/>
              <a:cs typeface="Google Sans"/>
              <a:sym typeface="Google Sans"/>
            </a:endParaRPr>
          </a:p>
          <a:p>
            <a:pPr indent="-292100" lvl="0" marL="457200" marR="0" rtl="0" algn="l">
              <a:lnSpc>
                <a:spcPct val="100000"/>
              </a:lnSpc>
              <a:spcBef>
                <a:spcPts val="0"/>
              </a:spcBef>
              <a:spcAft>
                <a:spcPts val="0"/>
              </a:spcAft>
              <a:buClr>
                <a:schemeClr val="dk1"/>
              </a:buClr>
              <a:buSzPts val="1000"/>
              <a:buFont typeface="Google Sans"/>
              <a:buChar char="●"/>
            </a:pPr>
            <a:r>
              <a:rPr lang="en" sz="1000">
                <a:solidFill>
                  <a:schemeClr val="dk1"/>
                </a:solidFill>
                <a:latin typeface="Google Sans"/>
                <a:ea typeface="Google Sans"/>
                <a:cs typeface="Google Sans"/>
                <a:sym typeface="Google Sans"/>
              </a:rPr>
              <a:t>“Sometimes, orders are incomplete or incorrectly filled.”</a:t>
            </a:r>
            <a:endParaRPr sz="1000">
              <a:solidFill>
                <a:schemeClr val="dk1"/>
              </a:solidFill>
              <a:latin typeface="Google Sans"/>
              <a:ea typeface="Google Sans"/>
              <a:cs typeface="Google Sans"/>
              <a:sym typeface="Google Sans"/>
            </a:endParaRPr>
          </a:p>
          <a:p>
            <a:pPr indent="-292100" lvl="0" marL="457200" marR="0" rtl="0" algn="l">
              <a:lnSpc>
                <a:spcPct val="100000"/>
              </a:lnSpc>
              <a:spcBef>
                <a:spcPts val="0"/>
              </a:spcBef>
              <a:spcAft>
                <a:spcPts val="0"/>
              </a:spcAft>
              <a:buClr>
                <a:schemeClr val="dk1"/>
              </a:buClr>
              <a:buSzPts val="1000"/>
              <a:buFont typeface="Google Sans"/>
              <a:buChar char="●"/>
            </a:pPr>
            <a:r>
              <a:rPr lang="en" sz="1000">
                <a:solidFill>
                  <a:schemeClr val="dk1"/>
                </a:solidFill>
                <a:latin typeface="Google Sans"/>
                <a:ea typeface="Google Sans"/>
                <a:cs typeface="Google Sans"/>
                <a:sym typeface="Google Sans"/>
              </a:rPr>
              <a:t>“Sometimes, the app is not functioning properly.”</a:t>
            </a:r>
            <a:endParaRPr sz="1000">
              <a:solidFill>
                <a:schemeClr val="dk1"/>
              </a:solidFill>
              <a:latin typeface="Google Sans"/>
              <a:ea typeface="Google Sans"/>
              <a:cs typeface="Google Sans"/>
              <a:sym typeface="Google Sans"/>
            </a:endParaRPr>
          </a:p>
          <a:p>
            <a:pPr indent="-292100" lvl="0" marL="457200" marR="0" rtl="0" algn="l">
              <a:lnSpc>
                <a:spcPct val="100000"/>
              </a:lnSpc>
              <a:spcBef>
                <a:spcPts val="0"/>
              </a:spcBef>
              <a:spcAft>
                <a:spcPts val="0"/>
              </a:spcAft>
              <a:buClr>
                <a:schemeClr val="dk1"/>
              </a:buClr>
              <a:buSzPts val="1000"/>
              <a:buFont typeface="Google Sans"/>
              <a:buChar char="●"/>
            </a:pPr>
            <a:r>
              <a:rPr lang="en" sz="1000">
                <a:solidFill>
                  <a:schemeClr val="dk1"/>
                </a:solidFill>
                <a:latin typeface="Google Sans"/>
                <a:ea typeface="Google Sans"/>
                <a:cs typeface="Google Sans"/>
                <a:sym typeface="Google Sans"/>
              </a:rPr>
              <a:t>“Sometimes, the orders are missing.”</a:t>
            </a:r>
            <a:endParaRPr sz="1000">
              <a:solidFill>
                <a:schemeClr val="dk1"/>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Google Sans"/>
              <a:ea typeface="Google Sans"/>
              <a:cs typeface="Google Sans"/>
              <a:sym typeface="Google Sans"/>
            </a:endParaRPr>
          </a:p>
        </p:txBody>
      </p:sp>
      <p:sp>
        <p:nvSpPr>
          <p:cNvPr id="61" name="Google Shape;61;p13"/>
          <p:cNvSpPr txBox="1"/>
          <p:nvPr/>
        </p:nvSpPr>
        <p:spPr>
          <a:xfrm>
            <a:off x="3651375" y="3547775"/>
            <a:ext cx="5197800" cy="1242300"/>
          </a:xfrm>
          <a:prstGeom prst="rect">
            <a:avLst/>
          </a:prstGeom>
          <a:noFill/>
          <a:ln cap="flat" cmpd="sng" w="28575">
            <a:solidFill>
              <a:srgbClr val="FFD9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sz="1200">
                <a:latin typeface="Google Sans"/>
                <a:ea typeface="Google Sans"/>
                <a:cs typeface="Google Sans"/>
                <a:sym typeface="Google Sans"/>
              </a:rPr>
              <a:t>Kathryn is studying at New York University. A</a:t>
            </a:r>
            <a:r>
              <a:rPr lang="en" sz="1200">
                <a:latin typeface="Google Sans"/>
                <a:ea typeface="Google Sans"/>
                <a:cs typeface="Google Sans"/>
                <a:sym typeface="Google Sans"/>
              </a:rPr>
              <a:t>s a full-time student, she attends 5 courses for her current semester. Also, as a student aide, she works for the Computer Science department. Her schedule is very tight, and her orders sometimes are not processed successfully. She feels that by improving the app performance she will be satisfied with the orders she made remotely.</a:t>
            </a:r>
            <a:endParaRPr i="0" sz="1200" u="none" cap="none" strike="noStrike">
              <a:solidFill>
                <a:srgbClr val="000000"/>
              </a:solidFill>
              <a:latin typeface="Google Sans"/>
              <a:ea typeface="Google Sans"/>
              <a:cs typeface="Google Sans"/>
              <a:sym typeface="Google Sans"/>
            </a:endParaRPr>
          </a:p>
        </p:txBody>
      </p:sp>
      <p:sp>
        <p:nvSpPr>
          <p:cNvPr id="62" name="Google Shape;62;p13"/>
          <p:cNvSpPr txBox="1"/>
          <p:nvPr/>
        </p:nvSpPr>
        <p:spPr>
          <a:xfrm>
            <a:off x="985225" y="1442025"/>
            <a:ext cx="1666200" cy="79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Google Sans"/>
              <a:ea typeface="Google Sans"/>
              <a:cs typeface="Google Sans"/>
              <a:sym typeface="Google Sans"/>
            </a:endParaRPr>
          </a:p>
        </p:txBody>
      </p:sp>
      <p:pic>
        <p:nvPicPr>
          <p:cNvPr id="63" name="Google Shape;63;p13"/>
          <p:cNvPicPr preferRelativeResize="0"/>
          <p:nvPr/>
        </p:nvPicPr>
        <p:blipFill>
          <a:blip r:embed="rId3">
            <a:alphaModFix/>
          </a:blip>
          <a:stretch>
            <a:fillRect/>
          </a:stretch>
        </p:blipFill>
        <p:spPr>
          <a:xfrm>
            <a:off x="451525" y="461325"/>
            <a:ext cx="2758200" cy="2758200"/>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p:nvPr/>
        </p:nvSpPr>
        <p:spPr>
          <a:xfrm>
            <a:off x="451525" y="461325"/>
            <a:ext cx="2758200" cy="27582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Google Sans"/>
              <a:ea typeface="Google Sans"/>
              <a:cs typeface="Google Sans"/>
              <a:sym typeface="Google Sans"/>
            </a:endParaRPr>
          </a:p>
        </p:txBody>
      </p:sp>
      <p:sp>
        <p:nvSpPr>
          <p:cNvPr id="69" name="Google Shape;69;p14"/>
          <p:cNvSpPr txBox="1"/>
          <p:nvPr/>
        </p:nvSpPr>
        <p:spPr>
          <a:xfrm>
            <a:off x="451450" y="3219525"/>
            <a:ext cx="2758200" cy="471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lang="en" sz="1900">
                <a:solidFill>
                  <a:srgbClr val="1967D2"/>
                </a:solidFill>
                <a:latin typeface="Google Sans"/>
                <a:ea typeface="Google Sans"/>
                <a:cs typeface="Google Sans"/>
                <a:sym typeface="Google Sans"/>
              </a:rPr>
              <a:t>Mark Finnigan</a:t>
            </a:r>
            <a:endParaRPr b="1" i="0" sz="1800" u="none" cap="none" strike="noStrike">
              <a:solidFill>
                <a:srgbClr val="1967D2"/>
              </a:solidFill>
              <a:latin typeface="Google Sans"/>
              <a:ea typeface="Google Sans"/>
              <a:cs typeface="Google Sans"/>
              <a:sym typeface="Google Sans"/>
            </a:endParaRPr>
          </a:p>
        </p:txBody>
      </p:sp>
      <p:sp>
        <p:nvSpPr>
          <p:cNvPr id="70" name="Google Shape;70;p14"/>
          <p:cNvSpPr txBox="1"/>
          <p:nvPr/>
        </p:nvSpPr>
        <p:spPr>
          <a:xfrm>
            <a:off x="323950" y="3614500"/>
            <a:ext cx="1501800" cy="12171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Google Sans"/>
                <a:ea typeface="Google Sans"/>
                <a:cs typeface="Google Sans"/>
                <a:sym typeface="Google Sans"/>
              </a:rPr>
              <a:t>Age: </a:t>
            </a:r>
            <a:endParaRPr b="1" i="0" sz="1400" u="none" cap="none" strike="noStrike">
              <a:solidFill>
                <a:srgbClr val="000000"/>
              </a:solidFill>
              <a:latin typeface="Google Sans"/>
              <a:ea typeface="Google Sans"/>
              <a:cs typeface="Google Sans"/>
              <a:sym typeface="Google Sans"/>
            </a:endParaRPr>
          </a:p>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Google Sans"/>
                <a:ea typeface="Google Sans"/>
                <a:cs typeface="Google Sans"/>
                <a:sym typeface="Google Sans"/>
              </a:rPr>
              <a:t>Education: </a:t>
            </a:r>
            <a:endParaRPr b="1" i="0" sz="1400" u="none" cap="none" strike="noStrike">
              <a:solidFill>
                <a:srgbClr val="000000"/>
              </a:solidFill>
              <a:latin typeface="Google Sans"/>
              <a:ea typeface="Google Sans"/>
              <a:cs typeface="Google Sans"/>
              <a:sym typeface="Google Sans"/>
            </a:endParaRPr>
          </a:p>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Google Sans"/>
                <a:ea typeface="Google Sans"/>
                <a:cs typeface="Google Sans"/>
                <a:sym typeface="Google Sans"/>
              </a:rPr>
              <a:t>Hometown: </a:t>
            </a:r>
            <a:endParaRPr b="1" i="0" sz="1400" u="none" cap="none" strike="noStrike">
              <a:solidFill>
                <a:srgbClr val="000000"/>
              </a:solidFill>
              <a:latin typeface="Google Sans"/>
              <a:ea typeface="Google Sans"/>
              <a:cs typeface="Google Sans"/>
              <a:sym typeface="Google Sans"/>
            </a:endParaRPr>
          </a:p>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Google Sans"/>
                <a:ea typeface="Google Sans"/>
                <a:cs typeface="Google Sans"/>
                <a:sym typeface="Google Sans"/>
              </a:rPr>
              <a:t>Family: </a:t>
            </a:r>
            <a:endParaRPr b="1" i="0" sz="1400" u="none" cap="none" strike="noStrike">
              <a:solidFill>
                <a:srgbClr val="000000"/>
              </a:solidFill>
              <a:latin typeface="Google Sans"/>
              <a:ea typeface="Google Sans"/>
              <a:cs typeface="Google Sans"/>
              <a:sym typeface="Google Sans"/>
            </a:endParaRPr>
          </a:p>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Google Sans"/>
                <a:ea typeface="Google Sans"/>
                <a:cs typeface="Google Sans"/>
                <a:sym typeface="Google Sans"/>
              </a:rPr>
              <a:t>Occupation:</a:t>
            </a:r>
            <a:endParaRPr b="1" i="0" sz="1400" u="none" cap="none" strike="noStrike">
              <a:solidFill>
                <a:srgbClr val="000000"/>
              </a:solidFill>
              <a:latin typeface="Google Sans"/>
              <a:ea typeface="Google Sans"/>
              <a:cs typeface="Google Sans"/>
              <a:sym typeface="Google Sans"/>
            </a:endParaRPr>
          </a:p>
          <a:p>
            <a:pPr indent="0" lvl="0" marL="0" marR="0" rtl="0" algn="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Google Sans"/>
              <a:ea typeface="Google Sans"/>
              <a:cs typeface="Google Sans"/>
              <a:sym typeface="Google Sans"/>
            </a:endParaRPr>
          </a:p>
        </p:txBody>
      </p:sp>
      <p:sp>
        <p:nvSpPr>
          <p:cNvPr id="71" name="Google Shape;71;p14"/>
          <p:cNvSpPr txBox="1"/>
          <p:nvPr/>
        </p:nvSpPr>
        <p:spPr>
          <a:xfrm>
            <a:off x="1707850" y="3614500"/>
            <a:ext cx="1817400" cy="121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latin typeface="Google Sans"/>
                <a:ea typeface="Google Sans"/>
                <a:cs typeface="Google Sans"/>
                <a:sym typeface="Google Sans"/>
              </a:rPr>
              <a:t>30</a:t>
            </a:r>
            <a:endParaRPr i="0" sz="14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chemeClr val="dk1"/>
              </a:buClr>
              <a:buSzPts val="1100"/>
              <a:buFont typeface="Arial"/>
              <a:buNone/>
            </a:pPr>
            <a:r>
              <a:rPr lang="en">
                <a:solidFill>
                  <a:schemeClr val="dk1"/>
                </a:solidFill>
                <a:latin typeface="Google Sans"/>
                <a:ea typeface="Google Sans"/>
                <a:cs typeface="Google Sans"/>
                <a:sym typeface="Google Sans"/>
              </a:rPr>
              <a:t>Bachelor (Business)</a:t>
            </a:r>
            <a:endParaRPr i="0" sz="1400" u="none" cap="none" strike="noStrike">
              <a:solidFill>
                <a:schemeClr val="dk1"/>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400"/>
              <a:buFont typeface="Arial"/>
              <a:buNone/>
            </a:pPr>
            <a:r>
              <a:rPr lang="en">
                <a:latin typeface="Google Sans"/>
                <a:ea typeface="Google Sans"/>
                <a:cs typeface="Google Sans"/>
                <a:sym typeface="Google Sans"/>
              </a:rPr>
              <a:t>Hoboken, NJ</a:t>
            </a:r>
            <a:endParaRPr i="0" sz="14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400"/>
              <a:buFont typeface="Arial"/>
              <a:buNone/>
            </a:pPr>
            <a:r>
              <a:rPr lang="en">
                <a:latin typeface="Google Sans"/>
                <a:ea typeface="Google Sans"/>
                <a:cs typeface="Google Sans"/>
                <a:sym typeface="Google Sans"/>
              </a:rPr>
              <a:t>1 parent, 3 siblings</a:t>
            </a:r>
            <a:endParaRPr>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400"/>
              <a:buFont typeface="Arial"/>
              <a:buNone/>
            </a:pPr>
            <a:r>
              <a:rPr lang="en">
                <a:latin typeface="Google Sans"/>
                <a:ea typeface="Google Sans"/>
                <a:cs typeface="Google Sans"/>
                <a:sym typeface="Google Sans"/>
              </a:rPr>
              <a:t>Data Analyst</a:t>
            </a:r>
            <a:endParaRPr>
              <a:latin typeface="Google Sans"/>
              <a:ea typeface="Google Sans"/>
              <a:cs typeface="Google Sans"/>
              <a:sym typeface="Google Sans"/>
            </a:endParaRPr>
          </a:p>
        </p:txBody>
      </p:sp>
      <p:sp>
        <p:nvSpPr>
          <p:cNvPr id="72" name="Google Shape;72;p14"/>
          <p:cNvSpPr txBox="1"/>
          <p:nvPr/>
        </p:nvSpPr>
        <p:spPr>
          <a:xfrm>
            <a:off x="3651375" y="461325"/>
            <a:ext cx="5035800" cy="908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i="1" lang="en" sz="1800" u="none" cap="none" strike="noStrike">
                <a:solidFill>
                  <a:srgbClr val="000000"/>
                </a:solidFill>
                <a:latin typeface="Google Sans"/>
                <a:ea typeface="Google Sans"/>
                <a:cs typeface="Google Sans"/>
                <a:sym typeface="Google Sans"/>
              </a:rPr>
              <a:t>“</a:t>
            </a:r>
            <a:r>
              <a:rPr i="1" lang="en" sz="1800">
                <a:latin typeface="Google Sans"/>
                <a:ea typeface="Google Sans"/>
                <a:cs typeface="Google Sans"/>
                <a:sym typeface="Google Sans"/>
              </a:rPr>
              <a:t>I really want to create a lovely place for me and my family to enjoy the best food-tasting experience.</a:t>
            </a:r>
            <a:r>
              <a:rPr i="1" lang="en" sz="1800" u="none" cap="none" strike="noStrike">
                <a:solidFill>
                  <a:srgbClr val="000000"/>
                </a:solidFill>
                <a:latin typeface="Google Sans"/>
                <a:ea typeface="Google Sans"/>
                <a:cs typeface="Google Sans"/>
                <a:sym typeface="Google Sans"/>
              </a:rPr>
              <a:t>” </a:t>
            </a:r>
            <a:endParaRPr i="1" sz="1800" u="none" cap="none" strike="noStrike">
              <a:solidFill>
                <a:srgbClr val="000000"/>
              </a:solidFill>
              <a:latin typeface="Google Sans"/>
              <a:ea typeface="Google Sans"/>
              <a:cs typeface="Google Sans"/>
              <a:sym typeface="Google Sans"/>
            </a:endParaRPr>
          </a:p>
        </p:txBody>
      </p:sp>
      <p:sp>
        <p:nvSpPr>
          <p:cNvPr id="73" name="Google Shape;73;p14"/>
          <p:cNvSpPr txBox="1"/>
          <p:nvPr/>
        </p:nvSpPr>
        <p:spPr>
          <a:xfrm>
            <a:off x="3651375" y="1285725"/>
            <a:ext cx="2522700" cy="193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rgbClr val="196702"/>
                </a:solidFill>
                <a:latin typeface="Google Sans"/>
                <a:ea typeface="Google Sans"/>
                <a:cs typeface="Google Sans"/>
                <a:sym typeface="Google Sans"/>
              </a:rPr>
              <a:t>Goals</a:t>
            </a:r>
            <a:r>
              <a:rPr i="0" lang="en" sz="1800" u="none" cap="none" strike="noStrike">
                <a:solidFill>
                  <a:srgbClr val="000000"/>
                </a:solidFill>
                <a:latin typeface="Google Sans"/>
                <a:ea typeface="Google Sans"/>
                <a:cs typeface="Google Sans"/>
                <a:sym typeface="Google Sans"/>
              </a:rPr>
              <a:t> </a:t>
            </a:r>
            <a:endParaRPr i="0" sz="1000" u="none" cap="none" strike="noStrike">
              <a:solidFill>
                <a:srgbClr val="000000"/>
              </a:solidFill>
              <a:latin typeface="Google Sans"/>
              <a:ea typeface="Google Sans"/>
              <a:cs typeface="Google Sans"/>
              <a:sym typeface="Google Sans"/>
            </a:endParaRPr>
          </a:p>
          <a:p>
            <a:pPr indent="-292100" lvl="0" marL="457200" marR="0" rtl="0" algn="l">
              <a:lnSpc>
                <a:spcPct val="100000"/>
              </a:lnSpc>
              <a:spcBef>
                <a:spcPts val="0"/>
              </a:spcBef>
              <a:spcAft>
                <a:spcPts val="0"/>
              </a:spcAft>
              <a:buClr>
                <a:srgbClr val="000000"/>
              </a:buClr>
              <a:buSzPts val="1000"/>
              <a:buFont typeface="Google Sans"/>
              <a:buChar char="●"/>
            </a:pPr>
            <a:r>
              <a:rPr lang="en" sz="1000">
                <a:latin typeface="Google Sans"/>
                <a:ea typeface="Google Sans"/>
                <a:cs typeface="Google Sans"/>
                <a:sym typeface="Google Sans"/>
              </a:rPr>
              <a:t>Include additional food preferences that suits his needs</a:t>
            </a:r>
            <a:endParaRPr sz="1000">
              <a:latin typeface="Google Sans"/>
              <a:ea typeface="Google Sans"/>
              <a:cs typeface="Google Sans"/>
              <a:sym typeface="Google Sans"/>
            </a:endParaRPr>
          </a:p>
          <a:p>
            <a:pPr indent="-292100" lvl="0" marL="457200" marR="0" rtl="0" algn="l">
              <a:lnSpc>
                <a:spcPct val="100000"/>
              </a:lnSpc>
              <a:spcBef>
                <a:spcPts val="0"/>
              </a:spcBef>
              <a:spcAft>
                <a:spcPts val="0"/>
              </a:spcAft>
              <a:buSzPts val="1000"/>
              <a:buFont typeface="Google Sans"/>
              <a:buChar char="●"/>
            </a:pPr>
            <a:r>
              <a:rPr lang="en" sz="1000">
                <a:latin typeface="Google Sans"/>
                <a:ea typeface="Google Sans"/>
                <a:cs typeface="Google Sans"/>
                <a:sym typeface="Google Sans"/>
              </a:rPr>
              <a:t>To locate food trucks close to his hometown</a:t>
            </a:r>
            <a:endParaRPr sz="1000">
              <a:latin typeface="Google Sans"/>
              <a:ea typeface="Google Sans"/>
              <a:cs typeface="Google Sans"/>
              <a:sym typeface="Google Sans"/>
            </a:endParaRPr>
          </a:p>
          <a:p>
            <a:pPr indent="-292100" lvl="0" marL="457200" rtl="0" algn="l">
              <a:spcBef>
                <a:spcPts val="0"/>
              </a:spcBef>
              <a:spcAft>
                <a:spcPts val="0"/>
              </a:spcAft>
              <a:buSzPts val="1000"/>
              <a:buFont typeface="Google Sans"/>
              <a:buChar char="●"/>
            </a:pPr>
            <a:r>
              <a:rPr lang="en" sz="1000">
                <a:solidFill>
                  <a:schemeClr val="dk1"/>
                </a:solidFill>
                <a:latin typeface="Google Sans"/>
                <a:ea typeface="Google Sans"/>
                <a:cs typeface="Google Sans"/>
                <a:sym typeface="Google Sans"/>
              </a:rPr>
              <a:t>To gain better mobile experience in making and following up with orders</a:t>
            </a:r>
            <a:endParaRPr sz="1000">
              <a:latin typeface="Google Sans"/>
              <a:ea typeface="Google Sans"/>
              <a:cs typeface="Google Sans"/>
              <a:sym typeface="Google Sans"/>
            </a:endParaRPr>
          </a:p>
        </p:txBody>
      </p:sp>
      <p:sp>
        <p:nvSpPr>
          <p:cNvPr id="74" name="Google Shape;74;p14"/>
          <p:cNvSpPr txBox="1"/>
          <p:nvPr/>
        </p:nvSpPr>
        <p:spPr>
          <a:xfrm>
            <a:off x="6326475" y="1285725"/>
            <a:ext cx="2522700" cy="193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900" u="none" cap="none" strike="noStrike">
                <a:solidFill>
                  <a:srgbClr val="C5221F"/>
                </a:solidFill>
                <a:latin typeface="Google Sans"/>
                <a:ea typeface="Google Sans"/>
                <a:cs typeface="Google Sans"/>
                <a:sym typeface="Google Sans"/>
              </a:rPr>
              <a:t>Frustrations</a:t>
            </a:r>
            <a:r>
              <a:rPr b="1" i="0" lang="en" sz="1800" u="none" cap="none" strike="noStrike">
                <a:solidFill>
                  <a:schemeClr val="dk1"/>
                </a:solidFill>
                <a:latin typeface="Google Sans"/>
                <a:ea typeface="Google Sans"/>
                <a:cs typeface="Google Sans"/>
                <a:sym typeface="Google Sans"/>
              </a:rPr>
              <a:t> </a:t>
            </a:r>
            <a:endParaRPr b="1" i="0" sz="1000" u="none" cap="none" strike="noStrike">
              <a:solidFill>
                <a:schemeClr val="dk1"/>
              </a:solidFill>
              <a:latin typeface="Google Sans"/>
              <a:ea typeface="Google Sans"/>
              <a:cs typeface="Google Sans"/>
              <a:sym typeface="Google Sans"/>
            </a:endParaRPr>
          </a:p>
          <a:p>
            <a:pPr indent="-292100" lvl="0" marL="457200" marR="0" rtl="0" algn="l">
              <a:lnSpc>
                <a:spcPct val="100000"/>
              </a:lnSpc>
              <a:spcBef>
                <a:spcPts val="0"/>
              </a:spcBef>
              <a:spcAft>
                <a:spcPts val="0"/>
              </a:spcAft>
              <a:buClr>
                <a:schemeClr val="dk1"/>
              </a:buClr>
              <a:buSzPts val="1000"/>
              <a:buFont typeface="Google Sans"/>
              <a:buChar char="●"/>
            </a:pPr>
            <a:r>
              <a:rPr lang="en" sz="1000">
                <a:solidFill>
                  <a:schemeClr val="dk1"/>
                </a:solidFill>
                <a:latin typeface="Google Sans"/>
                <a:ea typeface="Google Sans"/>
                <a:cs typeface="Google Sans"/>
                <a:sym typeface="Google Sans"/>
              </a:rPr>
              <a:t>“There are no food preferences toward mobile ordering. The flavor of my favorite food is too spicy to handle.”</a:t>
            </a:r>
            <a:endParaRPr sz="1000">
              <a:solidFill>
                <a:schemeClr val="dk1"/>
              </a:solidFill>
              <a:latin typeface="Google Sans"/>
              <a:ea typeface="Google Sans"/>
              <a:cs typeface="Google Sans"/>
              <a:sym typeface="Google Sans"/>
            </a:endParaRPr>
          </a:p>
          <a:p>
            <a:pPr indent="-292100" lvl="0" marL="457200" marR="0" rtl="0" algn="l">
              <a:lnSpc>
                <a:spcPct val="100000"/>
              </a:lnSpc>
              <a:spcBef>
                <a:spcPts val="0"/>
              </a:spcBef>
              <a:spcAft>
                <a:spcPts val="0"/>
              </a:spcAft>
              <a:buClr>
                <a:schemeClr val="dk1"/>
              </a:buClr>
              <a:buSzPts val="1000"/>
              <a:buFont typeface="Google Sans"/>
              <a:buChar char="●"/>
            </a:pPr>
            <a:r>
              <a:rPr lang="en" sz="1000">
                <a:solidFill>
                  <a:schemeClr val="dk1"/>
                </a:solidFill>
                <a:latin typeface="Google Sans"/>
                <a:ea typeface="Google Sans"/>
                <a:cs typeface="Google Sans"/>
                <a:sym typeface="Google Sans"/>
              </a:rPr>
              <a:t>“The order takes too long to arrive to the pickup location.”</a:t>
            </a:r>
            <a:endParaRPr sz="1000">
              <a:solidFill>
                <a:schemeClr val="dk1"/>
              </a:solidFill>
              <a:latin typeface="Google Sans"/>
              <a:ea typeface="Google Sans"/>
              <a:cs typeface="Google Sans"/>
              <a:sym typeface="Google Sans"/>
            </a:endParaRPr>
          </a:p>
          <a:p>
            <a:pPr indent="-292100" lvl="0" marL="457200" marR="0" rtl="0" algn="l">
              <a:lnSpc>
                <a:spcPct val="100000"/>
              </a:lnSpc>
              <a:spcBef>
                <a:spcPts val="0"/>
              </a:spcBef>
              <a:spcAft>
                <a:spcPts val="0"/>
              </a:spcAft>
              <a:buClr>
                <a:schemeClr val="dk1"/>
              </a:buClr>
              <a:buSzPts val="1000"/>
              <a:buFont typeface="Google Sans"/>
              <a:buChar char="●"/>
            </a:pPr>
            <a:r>
              <a:rPr lang="en" sz="1000">
                <a:solidFill>
                  <a:schemeClr val="dk1"/>
                </a:solidFill>
                <a:latin typeface="Google Sans"/>
                <a:ea typeface="Google Sans"/>
                <a:cs typeface="Google Sans"/>
                <a:sym typeface="Google Sans"/>
              </a:rPr>
              <a:t>“There is no feature that finds the food truck closest to me.”</a:t>
            </a:r>
            <a:endParaRPr sz="1000">
              <a:solidFill>
                <a:schemeClr val="dk1"/>
              </a:solidFill>
              <a:latin typeface="Google Sans"/>
              <a:ea typeface="Google Sans"/>
              <a:cs typeface="Google Sans"/>
              <a:sym typeface="Google Sans"/>
            </a:endParaRPr>
          </a:p>
          <a:p>
            <a:pPr indent="-292100" lvl="0" marL="457200" marR="0" rtl="0" algn="l">
              <a:lnSpc>
                <a:spcPct val="100000"/>
              </a:lnSpc>
              <a:spcBef>
                <a:spcPts val="0"/>
              </a:spcBef>
              <a:spcAft>
                <a:spcPts val="0"/>
              </a:spcAft>
              <a:buClr>
                <a:schemeClr val="dk1"/>
              </a:buClr>
              <a:buSzPts val="1000"/>
              <a:buFont typeface="Google Sans"/>
              <a:buChar char="●"/>
            </a:pPr>
            <a:r>
              <a:rPr lang="en" sz="1000">
                <a:solidFill>
                  <a:schemeClr val="dk1"/>
                </a:solidFill>
                <a:latin typeface="Google Sans"/>
                <a:ea typeface="Google Sans"/>
                <a:cs typeface="Google Sans"/>
                <a:sym typeface="Google Sans"/>
              </a:rPr>
              <a:t>“Sometimes, the orders are wrong or incompleted.”</a:t>
            </a:r>
            <a:endParaRPr sz="1000">
              <a:solidFill>
                <a:schemeClr val="dk1"/>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Google Sans"/>
              <a:ea typeface="Google Sans"/>
              <a:cs typeface="Google Sans"/>
              <a:sym typeface="Google Sans"/>
            </a:endParaRPr>
          </a:p>
        </p:txBody>
      </p:sp>
      <p:sp>
        <p:nvSpPr>
          <p:cNvPr id="75" name="Google Shape;75;p14"/>
          <p:cNvSpPr txBox="1"/>
          <p:nvPr/>
        </p:nvSpPr>
        <p:spPr>
          <a:xfrm>
            <a:off x="3651375" y="3547775"/>
            <a:ext cx="5197800" cy="1242300"/>
          </a:xfrm>
          <a:prstGeom prst="rect">
            <a:avLst/>
          </a:prstGeom>
          <a:noFill/>
          <a:ln cap="flat" cmpd="sng" w="28575">
            <a:solidFill>
              <a:srgbClr val="FFD9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sz="1000">
                <a:latin typeface="Google Sans"/>
                <a:ea typeface="Google Sans"/>
                <a:cs typeface="Google Sans"/>
                <a:sym typeface="Google Sans"/>
              </a:rPr>
              <a:t>Mark is a data analyst, living and working remotely in his hometown in New Jersey. Most of the time, he prepares and serves meal to the family by himself when he has enough grocery. Sometimes when he is busy, or during the special days (holidays and birthdays), he gets food from the food truck. Because of the family health conditions and ages, he hopes there are food preferences toward mobile ordering. Also, because he frequently gets his food from his favorite food truck that is far away from his hometown, he also hopes to find food trucks that are close to his location.</a:t>
            </a:r>
            <a:endParaRPr i="0" sz="1000" u="none" cap="none" strike="noStrike">
              <a:solidFill>
                <a:srgbClr val="000000"/>
              </a:solidFill>
              <a:latin typeface="Google Sans"/>
              <a:ea typeface="Google Sans"/>
              <a:cs typeface="Google Sans"/>
              <a:sym typeface="Google Sans"/>
            </a:endParaRPr>
          </a:p>
        </p:txBody>
      </p:sp>
      <p:pic>
        <p:nvPicPr>
          <p:cNvPr id="76" name="Google Shape;76;p14"/>
          <p:cNvPicPr preferRelativeResize="0"/>
          <p:nvPr/>
        </p:nvPicPr>
        <p:blipFill>
          <a:blip r:embed="rId3">
            <a:alphaModFix/>
          </a:blip>
          <a:stretch>
            <a:fillRect/>
          </a:stretch>
        </p:blipFill>
        <p:spPr>
          <a:xfrm>
            <a:off x="451525" y="461325"/>
            <a:ext cx="2758200" cy="2758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